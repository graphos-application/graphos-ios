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1" r:id="rId19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5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4014216" cy="4014216"/>
          </a:xfrm>
          <a:prstGeom prst="roundRect">
            <a:avLst>
              <a:gd name="adj" fmla="val 5000"/>
            </a:avLst>
          </a:prstGeom>
          <a:solidFill>
            <a:srgbClr val="2E3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ph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379476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228600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프로젝트 작업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결과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41605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보고 기간: 2026.10.10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457200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컴퓨터공학과 202202139 김민준, 202202135 강현찬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6B8E7F"/>
                </a:solidFill>
                <a:latin typeface="Calibri"/>
                <a:ea typeface="Apple SD Gothic Neo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800" b="1">
                <a:solidFill>
                  <a:srgbClr val="37424E"/>
                </a:solidFill>
                <a:latin typeface="Cambria"/>
                <a:ea typeface="Apple SD Gothic Neo"/>
              </a:rPr>
              <a:t>목차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783080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013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16712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848C93"/>
                </a:solidFill>
                <a:latin typeface="Calibri"/>
                <a:ea typeface="Apple SD Gothic Neo"/>
              </a:rPr>
              <a:t>Graphos가 해결하는 문제와 핵심 컨셉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59736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569464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5351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848C93"/>
                </a:solidFill>
                <a:latin typeface="Calibri"/>
                <a:ea typeface="Apple SD Gothic Neo"/>
              </a:rPr>
              <a:t>기획부터 배포까지의 진행 타임라인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246120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355848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55848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741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37424E"/>
                </a:solidFill>
                <a:latin typeface="Cambria"/>
                <a:ea typeface="Apple SD Gothic Neo"/>
              </a:rPr>
              <a:t>iOS 핵심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3989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848C93"/>
                </a:solidFill>
                <a:latin typeface="Calibri"/>
                <a:ea typeface="Apple SD Gothic Neo"/>
              </a:rPr>
              <a:t>온디바이스 Vision 라벨링 · Apple Intelligence 검색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032504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142232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42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605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37424E"/>
                </a:solidFill>
                <a:latin typeface="Cambria"/>
                <a:ea typeface="Apple SD Gothic Neo"/>
              </a:rPr>
              <a:t>Android 핵심 기능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5262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848C93"/>
                </a:solidFill>
                <a:latin typeface="Calibri"/>
                <a:ea typeface="Apple SD Gothic Neo"/>
              </a:rPr>
              <a:t>ONNX Runtime · MobileCLIP · YOLO11n 온디바이스 AI 파이프라인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818888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928616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28616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94690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1266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848C93"/>
                </a:solidFill>
                <a:latin typeface="Calibri"/>
                <a:ea typeface="Apple SD Gothic Neo"/>
              </a:rPr>
              <a:t>단기 · 중기 · 장기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74920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Graphos는 사진을 자동으로 인식·라벨링하고 자연어로 검색할 수 있는 온디바이스 AI 사진 관리 앱입니다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핵심 문제: 늘어나는 사진 속에서 원하는 사진을 빠르게 찾기 어려운 문제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타겟 사용자: 사진을 많이 찍고 정리가 번거로운 사용자 · 사용 시나리오: “바다에서 찍은 사진 찾아줘”와 같은 자연어 검색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프로젝트 배경: 클라우드 없이 Vision · Apple Intelligence만으로 프라이버시를 지키며 똑똑한 사진 관리를 제공하고자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7424E"/>
                </a:solidFill>
                <a:latin typeface="Cambria"/>
                <a:ea typeface="Apple SD Gothic Neo"/>
              </a:rPr>
              <a:t>핵심 가치</a:t>
            </a:r>
          </a:p>
        </p:txBody>
      </p:sp>
      <p:sp>
        <p:nvSpPr>
          <p:cNvPr id="9" name="Oval 8"/>
          <p:cNvSpPr/>
          <p:nvPr/>
        </p:nvSpPr>
        <p:spPr>
          <a:xfrm>
            <a:off x="6620255" y="259689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015" y="2774655"/>
            <a:ext cx="302849" cy="3028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2360" y="263347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프라이버시 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95351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모든 AI 처리가 기기 내에서만 이루어짐 (서버 전송 없음)</a:t>
            </a:r>
          </a:p>
        </p:txBody>
      </p:sp>
      <p:sp>
        <p:nvSpPr>
          <p:cNvPr id="13" name="Oval 12"/>
          <p:cNvSpPr/>
          <p:nvPr/>
        </p:nvSpPr>
        <p:spPr>
          <a:xfrm>
            <a:off x="6620255" y="355701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15" y="3734775"/>
            <a:ext cx="302849" cy="302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3593591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자동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913631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기반 자동 라벨링으로 수동 태깅 부담 없이 정리</a:t>
            </a:r>
          </a:p>
        </p:txBody>
      </p:sp>
      <p:sp>
        <p:nvSpPr>
          <p:cNvPr id="17" name="Oval 16"/>
          <p:cNvSpPr/>
          <p:nvPr/>
        </p:nvSpPr>
        <p:spPr>
          <a:xfrm>
            <a:off x="6620255" y="451713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015" y="4694895"/>
            <a:ext cx="302849" cy="3028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455371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87375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Intelligence로 말하듯 입력해도 원하는 사진을 찾아줌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실제 화면 — iOS</a:t>
            </a:r>
          </a:p>
        </p:txBody>
      </p:sp>
      <p:pic>
        <p:nvPicPr>
          <p:cNvPr id="6" name="Picture 5" descr="shot_library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292" y="1234440"/>
            <a:ext cx="2468343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8972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보관함</a:t>
            </a:r>
          </a:p>
        </p:txBody>
      </p:sp>
      <p:pic>
        <p:nvPicPr>
          <p:cNvPr id="8" name="Picture 7" descr="shot_search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675" y="1234440"/>
            <a:ext cx="2468343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87355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pic>
        <p:nvPicPr>
          <p:cNvPr id="10" name="Picture 9" descr="shot_label_edit_m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059" y="1234440"/>
            <a:ext cx="2468343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75739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라벨 수동 편집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>
                <a:solidFill>
                  <a:srgbClr val="37424E"/>
                </a:solidFill>
                <a:latin typeface="Cambria"/>
                <a:ea typeface="Apple SD Gothic Neo"/>
              </a:rPr>
              <a:t>실제 화면 — Android</a:t>
            </a:r>
          </a:p>
        </p:txBody>
      </p:sp>
      <p:pic>
        <p:nvPicPr>
          <p:cNvPr id="6" name="Picture 5" descr="android_library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20" y="1234440"/>
            <a:ext cx="2469458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7300" y="5870448"/>
            <a:ext cx="30180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50" b="1">
                <a:solidFill>
                  <a:srgbClr val="37424E"/>
                </a:solidFill>
                <a:latin typeface="Cambria"/>
                <a:ea typeface="Apple SD Gothic Neo"/>
              </a:rPr>
              <a:t>보관함</a:t>
            </a:r>
          </a:p>
        </p:txBody>
      </p:sp>
      <p:pic>
        <p:nvPicPr>
          <p:cNvPr id="8" name="Picture 7" descr="android_search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118" y="1234440"/>
            <a:ext cx="2469458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86798" y="5870448"/>
            <a:ext cx="30180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50" b="1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pic>
        <p:nvPicPr>
          <p:cNvPr id="10" name="Picture 9" descr="android_label_edit_m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616" y="1234440"/>
            <a:ext cx="2469458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76296" y="5870448"/>
            <a:ext cx="30180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50" b="1">
                <a:solidFill>
                  <a:srgbClr val="37424E"/>
                </a:solidFill>
                <a:latin typeface="Cambria"/>
                <a:ea typeface="Apple SD Gothic Neo"/>
              </a:rPr>
              <a:t>라벨 편집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3646627"/>
            <a:ext cx="8625535" cy="21945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99" y="3468319"/>
            <a:ext cx="378561" cy="378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39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핵심 기능 정의 및 온디바이스 AI 아키텍처 설계</a:t>
            </a:r>
          </a:p>
        </p:txBody>
      </p:sp>
      <p:sp>
        <p:nvSpPr>
          <p:cNvPr id="12" name="Oval 11"/>
          <p:cNvSpPr/>
          <p:nvPr/>
        </p:nvSpPr>
        <p:spPr>
          <a:xfrm>
            <a:off x="4521098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97" y="3468319"/>
            <a:ext cx="378561" cy="3785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26738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6738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3858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Vision · Apple Intelligence 기반 라벨링 · 검색 파이프라인 설계</a:t>
            </a:r>
          </a:p>
        </p:txBody>
      </p:sp>
      <p:sp>
        <p:nvSpPr>
          <p:cNvPr id="17" name="Oval 16"/>
          <p:cNvSpPr/>
          <p:nvPr/>
        </p:nvSpPr>
        <p:spPr>
          <a:xfrm>
            <a:off x="7670596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795" y="3468319"/>
            <a:ext cx="378561" cy="37856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76236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6236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3356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사진 라벨링, 자연어 검색, 라벨 편집, 검색 기록 등 핵심 기능 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10820095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2294" y="3468319"/>
            <a:ext cx="378561" cy="3785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25735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테스트 / 배포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5735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5775" y="2331720"/>
            <a:ext cx="13716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실기기 테스트 진행 중 — 라벨링 정확도 · 자연어처리 고도화 예정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AI 엔진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자동 라벨링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프레임워크(VNClassifyImageRequest) 기반 온디바이스 이미지 분류로 상위 라벨 자동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자연어 사진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Intelligence(FoundationModels) 온디바이스 LLM이 자연어 질의를 라벨 필터로 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Apple Intelligence 상태 감지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기기 · 설정 상태별 안내 메시지 제공, 비활성 시 설정 앱으로 바로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검색 결과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검색 결과 없음 · 검색 불가 상태를 구분해 안내하는 빈 상태 화면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탐색 &amp; 편집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그리드 · 보관함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3열 그리드, 스크롤에 반응하는 블러 헤더, 최신 사진으로 자동 스크롤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xp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전체화면 뷰어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스와이프 페이징, 핀치 · 더블탭 줌, 아래로 당겨서 닫기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수동 라벨 편집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그리드 · 상세뷰에서 라벨 칩을 직접 추가/삭제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r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삭제 동기화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시스템 사진 앱에서 삭제된 사진을 감지해 앱 내 데이터 자동 정리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데이터 &amp; 인프라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라이브러리 불러오기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전체 앨범 로드 및 iCloud 동기화 중복 사진 자동 제거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이미지 로딩 · 캐싱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PHCachingImageManager 기반 스크롤 프리페치, 망점 배율 대응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로컬 저장 (SwiftData)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사진별 라벨을 로컬 DB에 저장, 존재하지 않는 사진의 라벨 자동 정리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로딩 · 온보딩 플로우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권한 요청 → 로드 → 라벨링 단계별 진행 표시, 건너뛰기 지원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검색 기록 &amp; 리포팅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검색 기록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사용자가 실제로 시도한 검색어와 날짜를 SwiftData(SearchLog)에 자동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CSV 내보내기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전체 기록을 Documents 폴더에 UTF-8 BOM + RFC 4180 형식 CSV로 내보내며 한글 깨짐을 방지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미구현 / 예정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_mu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카메라 촬영 / 사진 가져오기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카메라 권한 미선언, 기존 라이브러리 사진만 열람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25923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96728" y="25923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gear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31720" y="42729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설정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6021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라벨 신뢰도 조절 등 사용자 환경설정 UI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41925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96728" y="41925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AI 추론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95072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18526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191353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ONNX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4271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AI 추론 엔진 — 서버 호출 없이 폰 안에서 전부 로컬로 계산, CPU 기반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6136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35204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37549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348325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MobileCLIP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81243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사진 · 텍스트를 같은 벡터 공간에 매핑해 자동 태깅과 의미 기반 검색을 지원하는 비전+텍스트 모델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108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509016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exp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83" y="5324703"/>
            <a:ext cx="399592" cy="3995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31720" y="505297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YOLO11n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38215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COCO 80종 객체 탐지 보조 모델, MobileCLIP이 놓치는 사람 등 흔한 대상을 보강 (10MB 경량)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번역 &amp;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ML Kit 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구글 온디바이스 번역 — 한국어 검색어를 영어로 변환해 MobileCLIP에 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Room (로컬 데이터베이스)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PhotoAlbum · TagMaster · PhotoTagMap 3개 테이블 구조의 온디바이스 SQLite DB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899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1219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단기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219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899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9507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사진 자동 라벨링 (Vision 기반)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사진 검색 (Apple Intelligence)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 수동 편집 · 전체화면 뷰어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검색 기록 저장 &amp; CSV 내보내기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7067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1387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중기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1387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예정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7067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9675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1">
                <a:solidFill>
                  <a:srgbClr val="333B44"/>
                </a:solidFill>
                <a:latin typeface="Calibri"/>
                <a:ea typeface="Apple SD Gothic Neo"/>
              </a:rPr>
              <a:t>라벨링 정확도 향상</a:t>
            </a:r>
            <a:br/>
            <a:r>
              <a:rPr sz="1150" b="0">
                <a:solidFill>
                  <a:srgbClr val="848C93"/>
                </a:solidFill>
                <a:latin typeface="Calibri"/>
                <a:ea typeface="Apple SD Gothic Neo"/>
              </a:rPr>
              <a:t>Vision 프롬프트 튜닝 · 편향 라벨 보정을 시도했으나 큰 효과는 없었음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1">
                <a:solidFill>
                  <a:srgbClr val="333B44"/>
                </a:solidFill>
                <a:latin typeface="Calibri"/>
                <a:ea typeface="Apple SD Gothic Neo"/>
              </a:rPr>
              <a:t>자연어 처리 능력 향상</a:t>
            </a:r>
            <a:br/>
            <a:r>
              <a:rPr sz="1150" b="1">
                <a:solidFill>
                  <a:srgbClr val="507164"/>
                </a:solidFill>
                <a:latin typeface="Calibri"/>
                <a:ea typeface="Apple SD Gothic Neo"/>
              </a:rPr>
              <a:t>모델 교체 없이, 자연어를 효율적으로 처리하는 로직 추가가 핵심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iOS / Android 동시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7235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1555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장기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555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그 다음 단계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7235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9843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정식 배포 (App Store / Google Play)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  <a:ea typeface="Apple SD Gothic Neo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