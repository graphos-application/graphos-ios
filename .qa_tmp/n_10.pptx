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952" y="1371600"/>
            <a:ext cx="4014216" cy="4014216"/>
          </a:xfrm>
          <a:prstGeom prst="roundRect">
            <a:avLst>
              <a:gd name="adj" fmla="val 5000"/>
            </a:avLst>
          </a:prstGeom>
          <a:solidFill>
            <a:srgbClr val="2E3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aph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81328"/>
            <a:ext cx="379476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800" y="1874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B8E7F"/>
                </a:solidFill>
                <a:latin typeface="Calibri"/>
                <a:ea typeface="Apple SD Gothic Neo"/>
              </a:rPr>
              <a:t>GRAPHOS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2286000"/>
            <a:ext cx="63093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  <a:ea typeface="Apple SD Gothic Neo"/>
              </a:rPr>
              <a:t>프로젝트 작업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  <a:ea typeface="Apple SD Gothic Neo"/>
              </a:rPr>
              <a:t>결과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41605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보고 기간: 2026.10.10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457200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컴퓨터공학과 202202139 김민준, 202202135 강현찬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598932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939E9A"/>
                </a:solidFill>
                <a:latin typeface="Cambria"/>
                <a:ea typeface="Apple SD Gothic Neo"/>
              </a:rPr>
              <a:t>AI 사진 라벨링 &amp; 자연어 검색 애플리케이션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6B8E7F"/>
                </a:solidFill>
                <a:latin typeface="Calibri"/>
                <a:ea typeface="Apple SD Gothic Neo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37424E"/>
                </a:solidFill>
                <a:latin typeface="Cambria"/>
                <a:ea typeface="Apple SD Gothic Neo"/>
              </a:rPr>
              <a:t>목차</a:t>
            </a:r>
          </a:p>
        </p:txBody>
      </p:sp>
      <p:sp>
        <p:nvSpPr>
          <p:cNvPr id="5" name="Oval 4"/>
          <p:cNvSpPr/>
          <p:nvPr/>
        </p:nvSpPr>
        <p:spPr>
          <a:xfrm>
            <a:off x="777239" y="1783080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39" y="178308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8013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프로젝트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16712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Graphos가 해결하는 문제와 핵심 컨셉</a:t>
            </a:r>
          </a:p>
        </p:txBody>
      </p:sp>
      <p:sp>
        <p:nvSpPr>
          <p:cNvPr id="9" name="Rectangle 8"/>
          <p:cNvSpPr/>
          <p:nvPr/>
        </p:nvSpPr>
        <p:spPr>
          <a:xfrm>
            <a:off x="1783080" y="2459736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39" y="2569464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39" y="2569464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587752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개발 진행 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953512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기획부터 배포까지의 진행 타임라인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3246120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39" y="3355848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39" y="3355848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3741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739896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온디바이스 Vision 라벨링 · Apple Intelligence 검색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4032504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39" y="4142232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39" y="414223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1605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526280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ONNX Runtime · MobileCLIP · YOLO11n 온디바이스 AI 파이프라인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4818888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39" y="4928616"/>
            <a:ext cx="621792" cy="621792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39" y="4928616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94690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성과 및 지표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312664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정량적 성과와 핵심 지표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5605272"/>
            <a:ext cx="9052560" cy="20116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39" y="5715000"/>
            <a:ext cx="621792" cy="621792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39" y="5715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  <a:ea typeface="Apple SD Gothic Neo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57332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향후 계획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609904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848C93"/>
                </a:solidFill>
                <a:latin typeface="Calibri"/>
                <a:ea typeface="Apple SD Gothic Neo"/>
              </a:rPr>
              <a:t>단기 · 중기 · 장기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74920" cy="4206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Graphos는 사진을 자동으로 인식·라벨링하고 자연어로 검색할 수 있는 온디바이스 AI 사진 관리 앱입니다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핵심 문제: 늘어나는 사진 속에서 원하는 사진을 빠르게 찾기 어려운 문제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타겟 사용자: 사진을 많이 찍고 정리가 번거로운 사용자 · 사용 시나리오: “바다에서 찍은 사진 찾아줘”와 같은 자연어 검색</a:t>
            </a:r>
          </a:p>
          <a:p>
            <a:pPr marL="201168" indent="-201168">
              <a:lnSpc>
                <a:spcPct val="125000"/>
              </a:lnSpc>
              <a:spcAft>
                <a:spcPts val="1700"/>
              </a:spcAft>
              <a:buClr>
                <a:srgbClr val="6B8E7F"/>
              </a:buClr>
              <a:buFont typeface="Arial"/>
              <a:buChar char="•"/>
            </a:pPr>
            <a:r>
              <a:rPr sz="1400" b="0" i="0">
                <a:solidFill>
                  <a:srgbClr val="333B44"/>
                </a:solidFill>
                <a:latin typeface="Calibri"/>
                <a:ea typeface="Apple SD Gothic Neo"/>
              </a:rPr>
              <a:t>프로젝트 배경: 클라우드 없이 Vision · Apple Intelligence만으로 프라이버시를 지키며 똑똑한 사진 관리를 제공하고자 시작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37424E"/>
                </a:solidFill>
                <a:latin typeface="Cambria"/>
                <a:ea typeface="Apple SD Gothic Neo"/>
              </a:rPr>
              <a:t>핵심 가치</a:t>
            </a:r>
          </a:p>
        </p:txBody>
      </p:sp>
      <p:sp>
        <p:nvSpPr>
          <p:cNvPr id="9" name="Oval 8"/>
          <p:cNvSpPr/>
          <p:nvPr/>
        </p:nvSpPr>
        <p:spPr>
          <a:xfrm>
            <a:off x="6620255" y="259689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015" y="2774655"/>
            <a:ext cx="302849" cy="3028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52360" y="2633472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프라이버시 우선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953512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모든 AI 처리가 기기 내에서만 이루어짐 (서버 전송 없음)</a:t>
            </a:r>
          </a:p>
        </p:txBody>
      </p:sp>
      <p:sp>
        <p:nvSpPr>
          <p:cNvPr id="13" name="Oval 12"/>
          <p:cNvSpPr/>
          <p:nvPr/>
        </p:nvSpPr>
        <p:spPr>
          <a:xfrm>
            <a:off x="6620255" y="355701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015" y="3734775"/>
            <a:ext cx="302849" cy="3028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52360" y="3593591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자동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913631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Vision 기반 자동 라벨링으로 수동 태깅 부담 없이 정리</a:t>
            </a:r>
          </a:p>
        </p:txBody>
      </p:sp>
      <p:sp>
        <p:nvSpPr>
          <p:cNvPr id="17" name="Oval 16"/>
          <p:cNvSpPr/>
          <p:nvPr/>
        </p:nvSpPr>
        <p:spPr>
          <a:xfrm>
            <a:off x="6620255" y="4517136"/>
            <a:ext cx="658368" cy="65836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015" y="4694895"/>
            <a:ext cx="302849" cy="3028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52360" y="4553712"/>
            <a:ext cx="356615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자연어 검색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873752"/>
            <a:ext cx="3566159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Apple Intelligence로 말하듯 입력해도 원하는 사진을 찾아줌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실제 화면</a:t>
            </a:r>
          </a:p>
        </p:txBody>
      </p:sp>
      <p:pic>
        <p:nvPicPr>
          <p:cNvPr id="6" name="Picture 5" descr="shot_library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292" y="1234440"/>
            <a:ext cx="2468343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8972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보관함</a:t>
            </a:r>
          </a:p>
        </p:txBody>
      </p:sp>
      <p:pic>
        <p:nvPicPr>
          <p:cNvPr id="8" name="Picture 7" descr="shot_search_m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675" y="1234440"/>
            <a:ext cx="2468343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87355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자연어 검색</a:t>
            </a:r>
          </a:p>
        </p:txBody>
      </p:sp>
      <p:pic>
        <p:nvPicPr>
          <p:cNvPr id="10" name="Picture 9" descr="shot_label_edit_m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059" y="1234440"/>
            <a:ext cx="2468343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75739" y="5870448"/>
            <a:ext cx="301698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37424E"/>
                </a:solidFill>
                <a:latin typeface="Cambria"/>
                <a:ea typeface="Apple SD Gothic Neo"/>
              </a:rPr>
              <a:t>라벨 수동 편집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개발 진행 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3646627"/>
            <a:ext cx="8625535" cy="21945"/>
          </a:xfrm>
          <a:prstGeom prst="rect">
            <a:avLst/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3246120"/>
            <a:ext cx="822960" cy="82296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799" y="3468319"/>
            <a:ext cx="378561" cy="3785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39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기획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59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핵심 기능 정의 및 온디바이스 AI 아키텍처 설계</a:t>
            </a:r>
          </a:p>
        </p:txBody>
      </p:sp>
      <p:sp>
        <p:nvSpPr>
          <p:cNvPr id="12" name="Oval 11"/>
          <p:cNvSpPr/>
          <p:nvPr/>
        </p:nvSpPr>
        <p:spPr>
          <a:xfrm>
            <a:off x="4521098" y="3246120"/>
            <a:ext cx="822960" cy="82296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297" y="3468319"/>
            <a:ext cx="378561" cy="3785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26738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6738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3858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Vision · Apple Intelligence 기반 라벨링 · 검색 파이프라인 설계</a:t>
            </a:r>
          </a:p>
        </p:txBody>
      </p:sp>
      <p:sp>
        <p:nvSpPr>
          <p:cNvPr id="17" name="Oval 16"/>
          <p:cNvSpPr/>
          <p:nvPr/>
        </p:nvSpPr>
        <p:spPr>
          <a:xfrm>
            <a:off x="7670596" y="3246120"/>
            <a:ext cx="822960" cy="82296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e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795" y="3468319"/>
            <a:ext cx="378561" cy="37856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76236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개발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6236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3356" y="2331720"/>
            <a:ext cx="23774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사진 라벨링, 자연어 검색, 라벨 편집, 검색 기록 등 핵심 기능 구현</a:t>
            </a:r>
          </a:p>
        </p:txBody>
      </p:sp>
      <p:sp>
        <p:nvSpPr>
          <p:cNvPr id="22" name="Oval 21"/>
          <p:cNvSpPr/>
          <p:nvPr/>
        </p:nvSpPr>
        <p:spPr>
          <a:xfrm>
            <a:off x="10820095" y="3246120"/>
            <a:ext cx="822960" cy="82296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2294" y="3468319"/>
            <a:ext cx="378561" cy="37856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25735" y="4325112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테스트 / 배포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5735" y="47274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48C93"/>
                </a:solidFill>
                <a:latin typeface="Calibri"/>
                <a:ea typeface="Apple SD Gothic Neo"/>
              </a:rPr>
              <a:t>[MM.DD]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5775" y="2331720"/>
            <a:ext cx="13716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48C93"/>
                </a:solidFill>
                <a:latin typeface="Calibri"/>
                <a:ea typeface="Apple SD Gothic Neo"/>
              </a:rPr>
              <a:t>실기기 테스트 진행 중 — 라벨링 정확도 · 자연어처리 고도화 예정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AI 엔진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자동 라벨링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Vision 프레임워크(VNClassifyImageRequest) 기반 온디바이스 이미지 분류로 상위 라벨 자동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자연어 사진 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Apple Intelligence(FoundationModels) 온디바이스 LLM이 자연어 질의를 라벨 필터로 변환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Apple Intelligence 상태 감지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기기 · 설정 상태별 안내 메시지 제공, 비활성 시 설정 앱으로 바로 이동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검색 결과 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검색 결과 없음 · 검색 불가 상태를 구분해 안내하는 빈 상태 화면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탐색 &amp; 편집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그리드 · 보관함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3열 그리드, 스크롤에 반응하는 블러 헤더, 최신 사진으로 자동 스크롤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exp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전체화면 뷰어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스와이프 페이징, 핀치 · 더블탭 줌, 아래로 당겨서 닫기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esig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수동 라벨 편집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그리드 · 상세뷰에서 라벨 칩을 직접 추가/삭제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tr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삭제 동기화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시스템 사진 앱에서 삭제된 사진을 감지해 앱 내 데이터 자동 정리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데이터 &amp; 인프라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80594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8" y="2012708"/>
            <a:ext cx="352272" cy="352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8850" y="185074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사진 라이브러리 불러오기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8850" y="217992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전체 앨범 로드 및 iCloud 동기화 중복 사진 자동 제거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6893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298323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908" y="3189998"/>
            <a:ext cx="352272" cy="352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850" y="302803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이미지 로딩 · 캐싱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335721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PHCachingImageManager 기반 스크롤 프리페치, 망점 배율 대응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4622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416052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908" y="4367288"/>
            <a:ext cx="352272" cy="352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28850" y="420532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로컬 저장 (SwiftData)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453450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사진별 라벨을 로컬 DB에 저장, 존재하지 않는 사진의 라벨 자동 정리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23510"/>
            <a:ext cx="10607040" cy="99441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0140" y="5337810"/>
            <a:ext cx="765810" cy="76581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908" y="5544578"/>
            <a:ext cx="352272" cy="352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28850" y="5382615"/>
            <a:ext cx="883539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37424E"/>
                </a:solidFill>
                <a:latin typeface="Cambria"/>
                <a:ea typeface="Apple SD Gothic Neo"/>
              </a:rPr>
              <a:t>로딩 · 온보딩 플로우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8850" y="5711799"/>
            <a:ext cx="8835390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848C93"/>
                </a:solidFill>
                <a:latin typeface="Calibri"/>
                <a:ea typeface="Apple SD Gothic Neo"/>
              </a:rPr>
              <a:t>권한 요청 → 로드 → 라벨링 단계별 진행 표시, 건너뛰기 지원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검색 기록 &amp; 리포팅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검색 기록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사용자가 실제로 시도한 검색어와 날짜를 SwiftData(SearchLog)에 자동 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42729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CSV 내보내기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021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전체 기록을 Documents 폴더에 UTF-8 BOM + RFC 4180 형식 CSV로 내보내며 한글 깨짐을 방지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iOS 핵심 기능 — 미구현 / 예정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amera_mu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0924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카메라 촬영 / 사진 가져오기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0924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카메라 권한 미선언, 기존 라이브러리 사진만 열람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2592324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96728" y="259232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48C93"/>
                </a:solidFill>
                <a:latin typeface="Calibri"/>
                <a:ea typeface="Apple SD Gothic Neo"/>
              </a:rPr>
              <a:t>예정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gear_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331720" y="4272991"/>
            <a:ext cx="80924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설정 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602175"/>
            <a:ext cx="809243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라벨 신뢰도 조절 등 사용자 환경설정 UI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4192524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E1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96728" y="4192524"/>
            <a:ext cx="71323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48C93"/>
                </a:solidFill>
                <a:latin typeface="Calibri"/>
                <a:ea typeface="Apple SD Gothic Neo"/>
              </a:rPr>
              <a:t>예정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 — AI 추론 파이프라인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195072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18526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191353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ONNX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24271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온디바이스 AI 추론 엔진 — 서버 호출 없이 폰 안에서 전부 로컬로 계산, CPU 기반 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6136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35204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37549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348325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MobileCLIP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81243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사진 · 텍스트를 같은 벡터 공간에 매핑해 자동 태깅과 의미 기반 검색을 지원하는 비전+텍스트 모델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1080"/>
            <a:ext cx="10607040" cy="138684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0140" y="509016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exp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683" y="5324703"/>
            <a:ext cx="399592" cy="3995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331720" y="5052974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YOLO11n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5382158"/>
            <a:ext cx="8732519" cy="929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COCO 80종 객체 탐지 보조 모델, MobileCLIP이 놓치는 사람 등 흔한 대상을 보강 (10MB 경량)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Android 핵심 기능 — 번역 &amp; 데이터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460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0140" y="27203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83" y="2954883"/>
            <a:ext cx="399592" cy="399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1720" y="26727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ML Kit Translate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019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구글 온디바이스 번역 — 한국어 검색어를 영어로 변환해 MobileCLIP에 전달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46220"/>
            <a:ext cx="10607040" cy="1417320"/>
          </a:xfrm>
          <a:prstGeom prst="roundRect">
            <a:avLst>
              <a:gd name="adj" fmla="val 900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0140" y="4320540"/>
            <a:ext cx="868680" cy="868680"/>
          </a:xfrm>
          <a:prstGeom prst="ellipse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683" y="4555083"/>
            <a:ext cx="399592" cy="3995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1720" y="4272991"/>
            <a:ext cx="8732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7424E"/>
                </a:solidFill>
                <a:latin typeface="Cambria"/>
                <a:ea typeface="Apple SD Gothic Neo"/>
              </a:rPr>
              <a:t>Room (로컬 데이터베이스)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02175"/>
            <a:ext cx="8732519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848C93"/>
                </a:solidFill>
                <a:latin typeface="Calibri"/>
                <a:ea typeface="Apple SD Gothic Neo"/>
              </a:rPr>
              <a:t>PhotoAlbum · TagMaster · PhotoTagMap 3개 테이블 구조의 온디바이스 SQLite DB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mbria"/>
                <a:ea typeface="Apple SD Gothic Neo"/>
              </a:rPr>
              <a:t>성과 및 지표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58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74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[00%]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라벨링 정확도 개선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122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838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[00건]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410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누적 처리 사진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302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[0.0초]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74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평균 검색 응답 속도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0507" y="2377440"/>
            <a:ext cx="2514600" cy="2834640"/>
          </a:xfrm>
          <a:prstGeom prst="roundRect">
            <a:avLst>
              <a:gd name="adj" fmla="val 7000"/>
            </a:avLst>
          </a:prstGeom>
          <a:solidFill>
            <a:srgbClr val="404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7667" y="3200400"/>
            <a:ext cx="22402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6B8E7F"/>
                </a:solidFill>
                <a:latin typeface="Cambria"/>
                <a:ea typeface="Apple SD Gothic Neo"/>
              </a:rPr>
              <a:t>[00%]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3387" y="420624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libri"/>
                <a:ea typeface="Apple SD Gothic Neo"/>
              </a:rPr>
              <a:t>베타 사용자 만족도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B7C0C6"/>
                </a:solidFill>
                <a:latin typeface="Calibri"/>
                <a:ea typeface="Apple SD Gothic Neo"/>
              </a:rPr>
              <a:t>[지표 산출 기준 / 측정 기간에 대한 각주]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39" y="502920"/>
            <a:ext cx="566928" cy="566928"/>
          </a:xfrm>
          <a:prstGeom prst="ellipse">
            <a:avLst/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39" y="5029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  <a:ea typeface="Apple SD Gothic Neo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45336" y="502920"/>
            <a:ext cx="9601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37424E"/>
                </a:solidFill>
                <a:latin typeface="Cambria"/>
                <a:ea typeface="Apple SD Gothic Neo"/>
              </a:rPr>
              <a:t>향후 계획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6899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1219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단기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219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구현 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6899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9507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사진 자동 라벨링 (Vision 기반)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자연어 사진 검색 (Apple Intelligence)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라벨 수동 편집 · 전체화면 뷰어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검색 기록 저장 &amp; CSV 내보내기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7067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6B8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1387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중기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1387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구현 예정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7067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9675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라벨링 정확도 향상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자연어 처리 능력 향상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iOS / Android 동시 적용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7235" y="1783080"/>
            <a:ext cx="3337560" cy="868680"/>
          </a:xfrm>
          <a:prstGeom prst="roundRect">
            <a:avLst>
              <a:gd name="adj" fmla="val 9000"/>
            </a:avLst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1555" y="1901952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  <a:ea typeface="Apple SD Gothic Neo"/>
              </a:rPr>
              <a:t>장기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555" y="229514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E4E8E6"/>
                </a:solidFill>
                <a:latin typeface="Calibri"/>
                <a:ea typeface="Apple SD Gothic Neo"/>
              </a:rPr>
              <a:t>그 다음 단계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7235" y="2651760"/>
            <a:ext cx="3337560" cy="3474720"/>
          </a:xfrm>
          <a:prstGeom prst="roundRect">
            <a:avLst>
              <a:gd name="adj" fmla="val 0"/>
            </a:avLst>
          </a:prstGeom>
          <a:solidFill>
            <a:srgbClr val="F3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9843" y="2926080"/>
            <a:ext cx="2788920" cy="3063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정식 배포 (App Store / Google Play)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[출시 일정 입력]</a:t>
            </a:r>
          </a:p>
          <a:p>
            <a:pPr marL="201168" indent="-201168">
              <a:lnSpc>
                <a:spcPct val="120000"/>
              </a:lnSpc>
              <a:spcAft>
                <a:spcPts val="1400"/>
              </a:spcAft>
              <a:buClr>
                <a:srgbClr val="507164"/>
              </a:buClr>
              <a:buFont typeface="Arial"/>
              <a:buChar char="•"/>
            </a:pPr>
            <a:r>
              <a:rPr sz="1250" b="0" i="0">
                <a:solidFill>
                  <a:srgbClr val="333B44"/>
                </a:solidFill>
                <a:latin typeface="Calibri"/>
                <a:ea typeface="Apple SD Gothic Neo"/>
              </a:rPr>
              <a:t>[출시 후 모니터링 계획]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4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mbria"/>
                <a:ea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C0C6"/>
                </a:solidFill>
                <a:latin typeface="Calibri"/>
                <a:ea typeface="Apple SD Gothic Neo"/>
              </a:rPr>
              <a:t>문의: [이메일 / 연락처]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6B8E7F"/>
                </a:solidFill>
                <a:latin typeface="Calibri"/>
                <a:ea typeface="Apple SD Gothic Neo"/>
              </a:rPr>
              <a:t>GRAPHOS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